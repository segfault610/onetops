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15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9979"/>
            <a:ext cx="105664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05939"/>
            <a:ext cx="10566400" cy="423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9979"/>
            <a:ext cx="105664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05939"/>
            <a:ext cx="10566400" cy="423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D98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/ MIXED-SIGNAL IC DESIGN · PROJECT STATUS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86180"/>
            <a:ext cx="9810750" cy="1918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68"/>
              </a:lnSpc>
              <a:buNone/>
            </a:pPr>
            <a:r>
              <a:rPr lang="en-US" sz="4600" b="1" i="0" dirty="0">
                <a:solidFill>
                  <a:srgbClr val="FBFBF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Workload-Aware Capacitorless LDO</a:t>
            </a:r>
            <a:endParaRPr lang="en-US" sz="4600" dirty="0"/>
          </a:p>
          <a:p>
            <a:pPr algn="l" indent="0" marL="0">
              <a:lnSpc>
                <a:spcPts val="4968"/>
              </a:lnSpc>
              <a:buNone/>
            </a:pPr>
            <a:r>
              <a:rPr lang="en-US" sz="4600" b="1" i="0" dirty="0">
                <a:solidFill>
                  <a:srgbClr val="FBFBF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with Adaptive Biasing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12800" y="3256915"/>
            <a:ext cx="85026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flipped-voltage-follower (FVF) based output-capacitorless regulator for bursty Edge-AI / AIoT power domains, designed in the open SkyWater sky130 PDK for a Tiny Tapeout shuttle.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5394960"/>
            <a:ext cx="6058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Dr. Jyotishman Saikia · Co-Mentor: Dr. Vaegae Naveen Kumar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5646420"/>
            <a:ext cx="519980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D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Micro and Nanoelectronics, SENSE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40799" y="5646420"/>
            <a:ext cx="193840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D9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status · Oct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C97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APPLICATIONS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99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Where a fast, capacitorless LDO earns its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86255"/>
            <a:ext cx="5187950" cy="1934210"/>
          </a:xfrm>
          <a:prstGeom prst="roundRect">
            <a:avLst>
              <a:gd name="adj" fmla="val 6402"/>
            </a:avLst>
          </a:prstGeom>
          <a:solidFill>
            <a:srgbClr val="FFFFFF"/>
          </a:solidFill>
          <a:ln w="6350">
            <a:solidFill>
              <a:srgbClr val="E3DED3"/>
            </a:solidFill>
            <a:prstDash val="solid"/>
          </a:ln>
        </p:spPr>
      </p:sp>
      <p:pic>
        <p:nvPicPr>
          <p:cNvPr id="5" name="Image 0" descr="Activ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2209800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150" y="2552700"/>
            <a:ext cx="48138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Edge-AI sensor nodes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3150" y="2870200"/>
            <a:ext cx="48138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local rails across sleep → sensing → inference → communication transitions.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88075" y="1786255"/>
            <a:ext cx="5187950" cy="1934210"/>
          </a:xfrm>
          <a:prstGeom prst="roundRect">
            <a:avLst>
              <a:gd name="adj" fmla="val 6402"/>
            </a:avLst>
          </a:prstGeom>
          <a:solidFill>
            <a:srgbClr val="FFFFFF"/>
          </a:solidFill>
          <a:ln w="6350">
            <a:solidFill>
              <a:srgbClr val="E3DED3"/>
            </a:solidFill>
            <a:prstDash val="solid"/>
          </a:ln>
        </p:spPr>
      </p:sp>
      <p:pic>
        <p:nvPicPr>
          <p:cNvPr id="9" name="Image 1" descr="Sear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5250" y="2209800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45250" y="2552700"/>
            <a:ext cx="48138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Edge-AI cameras &amp; agri/industrial sensing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45250" y="2870200"/>
            <a:ext cx="48138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Absorbs sudden current spikes from on-device image or signal processing bursts.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5975" y="3904615"/>
            <a:ext cx="5187950" cy="1934210"/>
          </a:xfrm>
          <a:prstGeom prst="roundRect">
            <a:avLst>
              <a:gd name="adj" fmla="val 6402"/>
            </a:avLst>
          </a:prstGeom>
          <a:solidFill>
            <a:srgbClr val="FFFFFF"/>
          </a:solidFill>
          <a:ln w="6350">
            <a:solidFill>
              <a:srgbClr val="E3DED3"/>
            </a:solidFill>
            <a:prstDash val="solid"/>
          </a:ln>
        </p:spPr>
      </p:sp>
      <p:pic>
        <p:nvPicPr>
          <p:cNvPr id="13" name="Image 2" descr="Databa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3150" y="4328160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3150" y="4671060"/>
            <a:ext cx="48138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Mixed-signal SoCs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73150" y="4988560"/>
            <a:ext cx="48138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Shields sensitive analog and sensor front-ends from digital switching noise on a shared supply.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88075" y="3904615"/>
            <a:ext cx="5187950" cy="1934210"/>
          </a:xfrm>
          <a:prstGeom prst="roundRect">
            <a:avLst>
              <a:gd name="adj" fmla="val 6402"/>
            </a:avLst>
          </a:prstGeom>
          <a:solidFill>
            <a:srgbClr val="FFFFFF"/>
          </a:solidFill>
          <a:ln w="6350">
            <a:solidFill>
              <a:srgbClr val="E3DED3"/>
            </a:solidFill>
            <a:prstDash val="solid"/>
          </a:ln>
        </p:spPr>
      </p:sp>
      <p:pic>
        <p:nvPicPr>
          <p:cNvPr id="17" name="Image 3" descr="Setting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45250" y="4328160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5250" y="4671060"/>
            <a:ext cx="48138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AIoT / dynamic voltage scaling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445250" y="4988560"/>
            <a:ext cx="48138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low-IQ wake-up stability for devices that scale voltage with workload.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12800" y="6256020"/>
            <a:ext cx="239471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§2.2 · Final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D98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TOPIC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0780"/>
            <a:ext cx="9810750" cy="128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4"/>
              </a:lnSpc>
              <a:buNone/>
            </a:pPr>
            <a:r>
              <a:rPr lang="en-US" sz="2800" b="1" i="0" dirty="0">
                <a:solidFill>
                  <a:srgbClr val="FBFBF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Workload-Aware Digitally Assisted Fast-Transient Capacitorless LDO with Adaptive Biasing for Edge-AI Systems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572068"/>
            <a:ext cx="882967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 adaptive biasing combined with a fast transient-boost path lets an output-capacitorless LDO respond faster to sudden load changes and stay energy-efficient, without a large external output capacitor — built and verified in SkyWater sky130 (open PDK), with a Tiny Tapeout shuttle as the tapeout route.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4762500"/>
            <a:ext cx="3403600" cy="1079500"/>
          </a:xfrm>
          <a:prstGeom prst="roundRect">
            <a:avLst>
              <a:gd name="adj" fmla="val 10588"/>
            </a:avLst>
          </a:prstGeom>
          <a:solidFill>
            <a:srgbClr val="1C2B4D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965700"/>
            <a:ext cx="308711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D98A4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0–10mA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16000" y="5443220"/>
            <a:ext cx="308711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BC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load range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94200" y="4762500"/>
            <a:ext cx="3403600" cy="1079500"/>
          </a:xfrm>
          <a:prstGeom prst="roundRect">
            <a:avLst>
              <a:gd name="adj" fmla="val 10588"/>
            </a:avLst>
          </a:prstGeom>
          <a:solidFill>
            <a:srgbClr val="1C2B4D"/>
          </a:solidFill>
          <a:ln/>
        </p:spPr>
      </p:sp>
      <p:sp>
        <p:nvSpPr>
          <p:cNvPr id="9" name="Text 7"/>
          <p:cNvSpPr/>
          <p:nvPr/>
        </p:nvSpPr>
        <p:spPr>
          <a:xfrm>
            <a:off x="4597400" y="4965700"/>
            <a:ext cx="308711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D98A4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No C_OUT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97400" y="5443220"/>
            <a:ext cx="308711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BC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Output-capacitorless topology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75600" y="4762500"/>
            <a:ext cx="3403600" cy="1079500"/>
          </a:xfrm>
          <a:prstGeom prst="roundRect">
            <a:avLst>
              <a:gd name="adj" fmla="val 10588"/>
            </a:avLst>
          </a:prstGeom>
          <a:solidFill>
            <a:srgbClr val="1C2B4D"/>
          </a:solidFill>
          <a:ln/>
        </p:spPr>
      </p:sp>
      <p:sp>
        <p:nvSpPr>
          <p:cNvPr id="12" name="Text 10"/>
          <p:cNvSpPr/>
          <p:nvPr/>
        </p:nvSpPr>
        <p:spPr>
          <a:xfrm>
            <a:off x="8178800" y="4965700"/>
            <a:ext cx="308711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D98A42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4-bit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178800" y="5443220"/>
            <a:ext cx="308711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BC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voltage scaling (DVS)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C97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PROJECT PLAN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998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Four blocks, built up in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150" y="1764030"/>
            <a:ext cx="2219325" cy="1719580"/>
          </a:xfrm>
          <a:prstGeom prst="roundRect">
            <a:avLst>
              <a:gd name="adj" fmla="val 6278"/>
            </a:avLst>
          </a:prstGeom>
          <a:solidFill>
            <a:srgbClr val="FFFFFF"/>
          </a:solidFill>
          <a:ln w="12700">
            <a:solidFill>
              <a:srgbClr val="C974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1973580"/>
            <a:ext cx="185423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50" kern="0" dirty="0">
                <a:solidFill>
                  <a:srgbClr val="C97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&amp; VALIDATED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8700" y="2214880"/>
            <a:ext cx="18542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FVF + Pass Element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8700" y="2491739"/>
            <a:ext cx="185423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2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Flipped voltage follower driving the PMOS pass device — the base regulation loop.</a:t>
            </a:r>
            <a:endParaRPr lang="en-US" sz="11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46425" y="2547620"/>
            <a:ext cx="3556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06800" y="1864995"/>
            <a:ext cx="2212975" cy="1517650"/>
          </a:xfrm>
          <a:prstGeom prst="roundRect">
            <a:avLst>
              <a:gd name="adj" fmla="val 7322"/>
            </a:avLst>
          </a:prstGeom>
          <a:solidFill>
            <a:srgbClr val="FFFFFF"/>
          </a:solidFill>
          <a:ln w="6350">
            <a:solidFill>
              <a:srgbClr val="E3DE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13175" y="2071370"/>
            <a:ext cx="185423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50" kern="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· REV 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13175" y="2312670"/>
            <a:ext cx="20034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Transient-Boost Path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813175" y="2589530"/>
            <a:ext cx="185423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2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sudden VOUT excursions and kicks extra drive onto the pass device.</a:t>
            </a:r>
            <a:endParaRPr lang="en-US" sz="11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24550" y="2547620"/>
            <a:ext cx="3556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84925" y="1758314"/>
            <a:ext cx="2212975" cy="1731010"/>
          </a:xfrm>
          <a:prstGeom prst="roundRect">
            <a:avLst>
              <a:gd name="adj" fmla="val 6420"/>
            </a:avLst>
          </a:prstGeom>
          <a:solidFill>
            <a:srgbClr val="FFFFFF"/>
          </a:solidFill>
          <a:ln w="6350">
            <a:solidFill>
              <a:srgbClr val="E3DED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91300" y="1964689"/>
            <a:ext cx="185423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50" kern="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· REV D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591300" y="2205989"/>
            <a:ext cx="185423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Bias &amp; Stability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91300" y="2696211"/>
            <a:ext cx="185423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2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IBIAS with load to trade quiescent current for speed only when needed.</a:t>
            </a:r>
            <a:endParaRPr lang="en-US" sz="11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02675" y="2547620"/>
            <a:ext cx="355600" cy="1524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63050" y="1767205"/>
            <a:ext cx="2212975" cy="171323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3DED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369425" y="1973580"/>
            <a:ext cx="185423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50" kern="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· RTL + AMS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369425" y="2214880"/>
            <a:ext cx="18542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 DVS / Control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369425" y="2491739"/>
            <a:ext cx="185423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2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output-voltage selection, plus a workload-hint input to pre-bias the loop.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924306" y="3746500"/>
            <a:ext cx="5139436" cy="785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494" indent="-142494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characterized (gm/Id tables) and specs set</a:t>
            </a:r>
            <a:endParaRPr lang="en-US" sz="1200" dirty="0"/>
          </a:p>
          <a:p>
            <a:pPr algn="l" marL="142494" indent="-142494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FVF-only LDO kept as reference (boost off via ben pin)</a:t>
            </a:r>
            <a:endParaRPr lang="en-US" sz="1200" dirty="0"/>
          </a:p>
          <a:p>
            <a:pPr algn="l" marL="142494" indent="-142494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boost, adaptive bias and DVS all built and simulated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385306" y="3746500"/>
            <a:ext cx="5139436" cy="785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494" indent="-142494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45-point PVT sweep running; hot-corner leakage is the open issue</a:t>
            </a:r>
            <a:endParaRPr lang="en-US" sz="1200" dirty="0"/>
          </a:p>
          <a:p>
            <a:pPr algn="l" marL="142494" indent="-142494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layout, PEX and AMS sign-off</a:t>
            </a:r>
            <a:endParaRPr lang="en-US" sz="1200" dirty="0"/>
          </a:p>
          <a:p>
            <a:pPr algn="l" marL="142494" indent="-142494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Characterize on silicon via a Tiny Tapeout shuttle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C97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PROGRESS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9979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PDK, flow and the four blocks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58314"/>
            <a:ext cx="5175250" cy="4080510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6350">
            <a:solidFill>
              <a:srgbClr val="E3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15489"/>
            <a:ext cx="48007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PDK &amp; flow</a:t>
            </a:r>
            <a:endParaRPr lang="en-US" sz="1500" dirty="0"/>
          </a:p>
        </p:txBody>
      </p:sp>
      <p:pic>
        <p:nvPicPr>
          <p:cNvPr id="6" name="Image 0" descr="Warning">    </p:cNvPr>
          <p:cNvPicPr>
            <a:picLocks noChangeAspect="1"/>
          </p:cNvPicPr>
          <p:nvPr/>
        </p:nvPicPr>
        <p:blipFill>
          <a:blip r:embed="rId1"/>
          <a:srcRect l="-1014" r="-1014" t="0" b="0"/>
          <a:stretch/>
        </p:blipFill>
        <p:spPr>
          <a:xfrm>
            <a:off x="1073150" y="2383789"/>
            <a:ext cx="149013" cy="177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3763" y="2383789"/>
            <a:ext cx="4542595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3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SCL, TSMC22 and GF55 models unavailable; ICsprout55 ships no SPICE models</a:t>
            </a:r>
            <a:endParaRPr lang="en-US" sz="1150" dirty="0"/>
          </a:p>
        </p:txBody>
      </p:sp>
      <p:pic>
        <p:nvPicPr>
          <p:cNvPr id="8" name="Image 1" descr="Warning">    </p:cNvPr>
          <p:cNvPicPr>
            <a:picLocks noChangeAspect="1"/>
          </p:cNvPicPr>
          <p:nvPr/>
        </p:nvPicPr>
        <p:blipFill>
          <a:blip r:embed="rId2"/>
          <a:srcRect l="0" r="0" t="-119" b="-119"/>
          <a:stretch/>
        </p:blipFill>
        <p:spPr>
          <a:xfrm>
            <a:off x="1073150" y="2932429"/>
            <a:ext cx="133032" cy="177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07782" y="2932429"/>
            <a:ext cx="4559055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3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Chosen: SkyWater sky130 (open, silicon-proven), tapeout via Tiny Tapeout</a:t>
            </a:r>
            <a:endParaRPr lang="en-US" sz="1150" dirty="0"/>
          </a:p>
        </p:txBody>
      </p:sp>
      <p:pic>
        <p:nvPicPr>
          <p:cNvPr id="10" name="Image 2" descr="CheckCircle">    </p:cNvPr>
          <p:cNvPicPr>
            <a:picLocks noChangeAspect="1"/>
          </p:cNvPicPr>
          <p:nvPr/>
        </p:nvPicPr>
        <p:blipFill>
          <a:blip r:embed="rId3"/>
          <a:srcRect l="-219" r="-219" t="0" b="0"/>
          <a:stretch/>
        </p:blipFill>
        <p:spPr>
          <a:xfrm>
            <a:off x="1073150" y="3481071"/>
            <a:ext cx="121179" cy="177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5929" y="3481071"/>
            <a:ext cx="4571265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3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xschem + ngspice: 18-cell library, levels L0–L4, one schematic + symbol per block</a:t>
            </a:r>
            <a:endParaRPr lang="en-US" sz="1150" dirty="0"/>
          </a:p>
        </p:txBody>
      </p:sp>
      <p:pic>
        <p:nvPicPr>
          <p:cNvPr id="12" name="Image 3" descr="CheckCircle">    </p:cNvPr>
          <p:cNvPicPr>
            <a:picLocks noChangeAspect="1"/>
          </p:cNvPicPr>
          <p:nvPr/>
        </p:nvPicPr>
        <p:blipFill>
          <a:blip r:embed="rId4"/>
          <a:srcRect l="-64" r="-64" t="0" b="0"/>
          <a:stretch/>
        </p:blipFill>
        <p:spPr>
          <a:xfrm>
            <a:off x="1073150" y="4029711"/>
            <a:ext cx="165312" cy="177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40062" y="4029711"/>
            <a:ext cx="4525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3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AMS: dvs_ctrl RTL runs inside ngspice (Verilator + d_cosim); PVT sweeps scripted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6200775" y="1758314"/>
            <a:ext cx="5175250" cy="4080510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6350">
            <a:solidFill>
              <a:srgbClr val="E3DED3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6457950" y="2015489"/>
            <a:ext cx="48007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built</a:t>
            </a:r>
            <a:endParaRPr lang="en-US" sz="1500" dirty="0"/>
          </a:p>
        </p:txBody>
      </p:sp>
      <p:pic>
        <p:nvPicPr>
          <p:cNvPr id="16" name="Image 4" descr="CheckCircle">    </p:cNvPr>
          <p:cNvPicPr>
            <a:picLocks noChangeAspect="1"/>
          </p:cNvPicPr>
          <p:nvPr/>
        </p:nvPicPr>
        <p:blipFill>
          <a:blip r:embed="rId5"/>
          <a:srcRect l="-833" r="-833" t="0" b="0"/>
          <a:stretch/>
        </p:blipFill>
        <p:spPr>
          <a:xfrm>
            <a:off x="6457950" y="2383789"/>
            <a:ext cx="129117" cy="1778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88667" y="2383789"/>
            <a:ext cx="4563089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3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FVF loop + replica VSET generator: PM ≥ 85° (TT), 1.07 mV/mA load regulation</a:t>
            </a:r>
            <a:endParaRPr lang="en-US" sz="1150" dirty="0"/>
          </a:p>
        </p:txBody>
      </p:sp>
      <p:pic>
        <p:nvPicPr>
          <p:cNvPr id="18" name="Image 5" descr="CheckCircle">    </p:cNvPr>
          <p:cNvPicPr>
            <a:picLocks noChangeAspect="1"/>
          </p:cNvPicPr>
          <p:nvPr/>
        </p:nvPicPr>
        <p:blipFill>
          <a:blip r:embed="rId6"/>
          <a:srcRect l="-250" r="-250" t="0" b="0"/>
          <a:stretch/>
        </p:blipFill>
        <p:spPr>
          <a:xfrm>
            <a:off x="6457950" y="2932429"/>
            <a:ext cx="127635" cy="1778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687185" y="2932429"/>
            <a:ext cx="4564615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3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boost: AC-coupled dip detector + ×20 gate pull-down, about halves undershoot</a:t>
            </a:r>
            <a:endParaRPr lang="en-US" sz="1150" dirty="0"/>
          </a:p>
        </p:txBody>
      </p:sp>
      <p:pic>
        <p:nvPicPr>
          <p:cNvPr id="20" name="Image 6" descr="CheckCircle">    </p:cNvPr>
          <p:cNvPicPr>
            <a:picLocks noChangeAspect="1"/>
          </p:cNvPicPr>
          <p:nvPr/>
        </p:nvPicPr>
        <p:blipFill>
          <a:blip r:embed="rId7"/>
          <a:srcRect l="0" r="0" t="-971" b="-971"/>
          <a:stretch/>
        </p:blipFill>
        <p:spPr>
          <a:xfrm>
            <a:off x="6457950" y="3481071"/>
            <a:ext cx="130810" cy="1778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690360" y="3481071"/>
            <a:ext cx="4561345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3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bias: 1/500 pass replica makes loop bias track load; Iq 270 → 163 µA</a:t>
            </a:r>
            <a:endParaRPr lang="en-US" sz="1150" dirty="0"/>
          </a:p>
        </p:txBody>
      </p:sp>
      <p:pic>
        <p:nvPicPr>
          <p:cNvPr id="22" name="Image 7" descr="CheckCircle">    </p:cNvPr>
          <p:cNvPicPr>
            <a:picLocks noChangeAspect="1"/>
          </p:cNvPicPr>
          <p:nvPr/>
        </p:nvPicPr>
        <p:blipFill>
          <a:blip r:embed="rId8"/>
          <a:srcRect l="-159" r="-159" t="0" b="0"/>
          <a:stretch/>
        </p:blipFill>
        <p:spPr>
          <a:xfrm>
            <a:off x="6457950" y="4029711"/>
            <a:ext cx="133773" cy="1778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693323" y="4029711"/>
            <a:ext cx="4558293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3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 DVS: R-DAC 1.00–1.45 V in 30 mV steps + slew-limited controller with workload hint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C97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PROGRESS · KEY FINDING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9979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Boost and adaptive bias: Rev D results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67839"/>
          <a:ext cx="10553700" cy="1544320"/>
        </p:xfrm>
        <a:graphic>
          <a:graphicData uri="http://schemas.openxmlformats.org/drawingml/2006/table">
            <a:tbl>
              <a:tblPr/>
              <a:tblGrid>
                <a:gridCol w="4221480"/>
                <a:gridCol w="3166110"/>
                <a:gridCol w="316611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Without assist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 D (boost + adaptive bias)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Undershoot, 0.1 → 10 mA in 100 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 mV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 mV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Edge-AI burst, 1.3 → 9.6 mA in 10 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534 mV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 mV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Quiescent 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 µA (fixed bias)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 µA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3566161"/>
            <a:ext cx="10566400" cy="1498600"/>
          </a:xfrm>
          <a:prstGeom prst="roundRect">
            <a:avLst>
              <a:gd name="adj" fmla="val 8475"/>
            </a:avLst>
          </a:prstGeom>
          <a:solidFill>
            <a:srgbClr val="1C2B4D"/>
          </a:solidFill>
          <a:ln/>
        </p:spPr>
      </p:sp>
      <p:pic>
        <p:nvPicPr>
          <p:cNvPr id="6" name="Image 0" descr="Lightbulb">    </p:cNvPr>
          <p:cNvPicPr>
            <a:picLocks noChangeAspect="1"/>
          </p:cNvPicPr>
          <p:nvPr/>
        </p:nvPicPr>
        <p:blipFill>
          <a:blip r:embed="rId1"/>
          <a:srcRect l="-486" r="-486" t="0" b="0"/>
          <a:stretch/>
        </p:blipFill>
        <p:spPr>
          <a:xfrm>
            <a:off x="1066800" y="3820161"/>
            <a:ext cx="76941" cy="254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1541" y="3820161"/>
            <a:ext cx="10097769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BF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same netlist, the transient boost (switched by the ben pin) more than halves the 100 ns undershoot and cuts the Edge-AI burst dip by 37 %, while adaptive bias lowers standby current by 40 %. Trade-offs: light-load PSRR at 1 MHz drops about 10 dB, and phase margin falls to 25° at the hottest light-load corner, which is the next fix. The real dvs_ctrl RTL, co-simulated in ngspice, pre-raises VOUT on the workload hint before the burst.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12800" y="6256021"/>
            <a:ext cx="303339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sky130 TT · 27 °C · VIN 1.8 V · ngspice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C97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9979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the project delivers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393314"/>
            <a:ext cx="10566400" cy="0"/>
          </a:xfrm>
          <a:prstGeom prst="line">
            <a:avLst/>
          </a:prstGeom>
          <a:noFill/>
          <a:ln w="6350">
            <a:solidFill>
              <a:srgbClr val="E3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94839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742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22400" y="1957071"/>
            <a:ext cx="756653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basic and an improved output-capacitorless LDO, both realized in the target process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3034664"/>
            <a:ext cx="10566400" cy="0"/>
          </a:xfrm>
          <a:prstGeom prst="line">
            <a:avLst/>
          </a:prstGeom>
          <a:noFill/>
          <a:ln w="6350">
            <a:solidFill>
              <a:srgbClr val="E3DE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536189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742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22400" y="2598421"/>
            <a:ext cx="965974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head-to-head comparison of fixed-bias, adaptive-bias, and fully-assisted designs on performance and power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3676014"/>
            <a:ext cx="10566400" cy="0"/>
          </a:xfrm>
          <a:prstGeom prst="line">
            <a:avLst/>
          </a:prstGeom>
          <a:noFill/>
          <a:ln w="6350">
            <a:solidFill>
              <a:srgbClr val="E3DE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3177539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742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22400" y="3239771"/>
            <a:ext cx="835621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against Edge-AI workload current patterns: sleep, sensing, inference, communication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4317364"/>
            <a:ext cx="10566400" cy="0"/>
          </a:xfrm>
          <a:prstGeom prst="line">
            <a:avLst/>
          </a:prstGeom>
          <a:noFill/>
          <a:ln w="6350">
            <a:solidFill>
              <a:srgbClr val="E3DE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818889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742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22400" y="3881121"/>
            <a:ext cx="814565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layout with DRC / LVS / PEX / AMS verification, and a GDSII if the schedule allows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460239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742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22400" y="4522471"/>
            <a:ext cx="972083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characterization on a Tiny Tapeout shuttle, otherwise sign-off by post-layout simulation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C97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9979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One-year execution plan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67839"/>
          <a:ext cx="10553700" cy="2235835"/>
        </p:xfrm>
        <a:graphic>
          <a:graphicData uri="http://schemas.openxmlformats.org/drawingml/2006/table">
            <a:tbl>
              <a:tblPr/>
              <a:tblGrid>
                <a:gridCol w="1477518"/>
                <a:gridCol w="2321814"/>
                <a:gridCol w="6754368"/>
              </a:tblGrid>
              <a:tr h="31940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Activities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Aug–Sep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 review, PDK / device characterization, specifications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FBFB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— now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5F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5F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FBFB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Oct–Dec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A15F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5F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5F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FBFB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FVF + adaptive bias + transient assist + DVS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A15F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15F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15F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42F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5F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Jan–Mar 2027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5F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AMS / PVT / stability / PSRR / workload optimization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15F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Apr–May 2027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layout, integration, PEX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Jun–Jul 2027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DRC / LVS / ERC, AMS sign-off, GDSII / tape-out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6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 2027 onward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Fabrication return, PCB bring-up, silicon characterization, report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257675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 and silicon testing proceed only if the MPW shuttle schedule allows it.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12800" y="6256021"/>
            <a:ext cx="285165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8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One-year execution plan · proposal §3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C97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ISSUES &amp; NEXT STEPS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9979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we fix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393314"/>
            <a:ext cx="10566400" cy="0"/>
          </a:xfrm>
          <a:prstGeom prst="line">
            <a:avLst/>
          </a:prstGeom>
          <a:noFill/>
          <a:ln w="6350">
            <a:solidFill>
              <a:srgbClr val="E3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94839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742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22400" y="1957071"/>
            <a:ext cx="756653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Hot-corner leakage (125 °C, light load): add a shunt clamp or gain-stage driver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3034664"/>
            <a:ext cx="10566400" cy="0"/>
          </a:xfrm>
          <a:prstGeom prst="line">
            <a:avLst/>
          </a:prstGeom>
          <a:noFill/>
          <a:ln w="6350">
            <a:solidFill>
              <a:srgbClr val="E3DE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536189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742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22400" y="2598421"/>
            <a:ext cx="965974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+12–15 mV DC offset across DVS codes: improve replica matching and OTA gain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3676014"/>
            <a:ext cx="10566400" cy="0"/>
          </a:xfrm>
          <a:prstGeom prst="line">
            <a:avLst/>
          </a:prstGeom>
          <a:noFill/>
          <a:ln w="6350">
            <a:solidFill>
              <a:srgbClr val="E3DE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3177539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742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22400" y="3239771"/>
            <a:ext cx="835621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PSRR (−30 dB at 1 kHz) and line regulation (24 mV/V) are limited by the single-stage FVF loop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4317364"/>
            <a:ext cx="10566400" cy="0"/>
          </a:xfrm>
          <a:prstGeom prst="line">
            <a:avLst/>
          </a:prstGeom>
          <a:noFill/>
          <a:ln w="6350">
            <a:solidFill>
              <a:srgbClr val="E3DE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3818889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742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22400" y="3881121"/>
            <a:ext cx="814565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ideal R/C for sky130 MIM and poly devices; run Monte-Carlo mismatch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460239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742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22400" y="4522471"/>
            <a:ext cx="972083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→ DRC / LVS / PEX → Tiny Tapeout analog submission (≤ 2×2 tiles)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acitorless LDO — Project Status">
  <a:themeElements>
    <a:clrScheme name="Capacitorless LDO — Project Status">
      <a:dk1>
        <a:srgbClr val="14213D"/>
      </a:dk1>
      <a:lt1>
        <a:srgbClr val="FBFBF8"/>
      </a:lt1>
      <a:dk2>
        <a:srgbClr val="4E586C"/>
      </a:dk2>
      <a:lt2>
        <a:srgbClr val="E4E5E5"/>
      </a:lt2>
      <a:accent1>
        <a:srgbClr val="C9742F"/>
      </a:accent1>
      <a:accent2>
        <a:srgbClr val="D98A42"/>
      </a:accent2>
      <a:accent3>
        <a:srgbClr val="33384A"/>
      </a:accent3>
      <a:accent4>
        <a:srgbClr val="52586A"/>
      </a:accent4>
      <a:accent5>
        <a:srgbClr val="8A8F9C"/>
      </a:accent5>
      <a:accent6>
        <a:srgbClr val="BCC3D6"/>
      </a:accent6>
      <a:hlink>
        <a:srgbClr val="0563C1"/>
      </a:hlink>
      <a:folHlink>
        <a:srgbClr val="954F72"/>
      </a:folHlink>
    </a:clrScheme>
    <a:fontScheme name="Capacitorless LDO — Project Statu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Capacitorless LDO — Project Status</dc:title>
  <dc:subject/>
  <dc:creator/>
  <cp:lastModifiedBy/>
  <cp:revision>1</cp:revision>
  <dcterms:created xsi:type="dcterms:W3CDTF">2026-10-13T19:29:22Z</dcterms:created>
  <dcterms:modified xsi:type="dcterms:W3CDTF">2026-10-13T19:29:22Z</dcterms:modified>
</cp:coreProperties>
</file>